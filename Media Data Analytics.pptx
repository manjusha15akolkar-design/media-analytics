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2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5" d="100"/>
          <a:sy n="75" d="100"/>
        </p:scale>
        <p:origin x="62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48A87A34-81AB-432B-8DAE-1953F412C126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708DF-4FF6-1859-89B8-4BA0E10FB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421" y="955039"/>
            <a:ext cx="11401167" cy="1466883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latin typeface="Adobe Hebrew" panose="02040503050201020203" pitchFamily="18" charset="-79"/>
                <a:cs typeface="Adobe Hebrew" panose="02040503050201020203" pitchFamily="18" charset="-79"/>
              </a:rPr>
              <a:t>Media Data Analytics</a:t>
            </a:r>
            <a:endParaRPr lang="en-IN" sz="8000" dirty="0">
              <a:latin typeface="Adobe Hebrew" panose="02040503050201020203" pitchFamily="18" charset="-79"/>
              <a:cs typeface="Adobe Hebrew" panose="02040503050201020203" pitchFamily="18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ECA6FB-53DD-D38C-C1D4-4D69AC2C7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421" y="2421923"/>
            <a:ext cx="11401167" cy="434958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Group 4                                                                                                                           Group Members:</a:t>
            </a:r>
          </a:p>
          <a:p>
            <a:r>
              <a:rPr lang="en-US" dirty="0"/>
              <a:t>Co-ordinate:  Mahindra                                                                                                Sandhya</a:t>
            </a:r>
          </a:p>
          <a:p>
            <a:r>
              <a:rPr lang="en-US" dirty="0"/>
              <a:t>                                                                                                                                         </a:t>
            </a:r>
            <a:r>
              <a:rPr lang="en-US" dirty="0" err="1"/>
              <a:t>B.Khureshiya</a:t>
            </a:r>
            <a:r>
              <a:rPr lang="en-US" dirty="0"/>
              <a:t> Kulsum</a:t>
            </a:r>
          </a:p>
          <a:p>
            <a:r>
              <a:rPr lang="en-US" dirty="0"/>
              <a:t>                                                                                                                                         Mehak Anjum</a:t>
            </a:r>
          </a:p>
          <a:p>
            <a:r>
              <a:rPr lang="en-US" dirty="0"/>
              <a:t>                                                                                                                                         R Subhash</a:t>
            </a:r>
          </a:p>
          <a:p>
            <a:r>
              <a:rPr lang="en-US" dirty="0"/>
              <a:t>                                                                                                                                         Mohana Sundaram</a:t>
            </a:r>
          </a:p>
          <a:p>
            <a:r>
              <a:rPr lang="en-US" dirty="0"/>
              <a:t>                                                                                                                                         Sneha</a:t>
            </a:r>
          </a:p>
          <a:p>
            <a:r>
              <a:rPr lang="en-US" dirty="0"/>
              <a:t>                                                                                                                                         Manjusha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                     </a:t>
            </a:r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4810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51351-B0CD-0550-AD19-3ED6A8F62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949617"/>
          </a:xfrm>
        </p:spPr>
        <p:txBody>
          <a:bodyPr/>
          <a:lstStyle/>
          <a:p>
            <a:r>
              <a:rPr lang="en-US" dirty="0">
                <a:latin typeface="Adobe Hebrew" panose="02040503050201020203" pitchFamily="18" charset="-79"/>
                <a:cs typeface="Adobe Hebrew" panose="02040503050201020203" pitchFamily="18" charset="-79"/>
              </a:rPr>
              <a:t>Introduction</a:t>
            </a:r>
            <a:endParaRPr lang="en-IN" dirty="0">
              <a:latin typeface="Adobe Hebrew" panose="02040503050201020203" pitchFamily="18" charset="-79"/>
              <a:cs typeface="Adobe Hebrew" panose="02040503050201020203" pitchFamily="18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7D1A5-4521-F5EB-8E97-7821BEE80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1664042"/>
            <a:ext cx="9603275" cy="380230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cs typeface="Adobe Hebrew" panose="02040503050201020203" pitchFamily="18" charset="-79"/>
              </a:rPr>
              <a:t>In today's digital landscape, these platforms are not just communication channels; they are vast repositories of invaluable business intelligence. </a:t>
            </a:r>
            <a:r>
              <a:rPr lang="en-US" dirty="0" err="1">
                <a:cs typeface="Adobe Hebrew" panose="02040503050201020203" pitchFamily="18" charset="-79"/>
              </a:rPr>
              <a:t>Analysing</a:t>
            </a:r>
            <a:r>
              <a:rPr lang="en-US" dirty="0">
                <a:cs typeface="Adobe Hebrew" panose="02040503050201020203" pitchFamily="18" charset="-79"/>
              </a:rPr>
              <a:t> data from LinkedIn, Facebook, and Google allows us to understand market dynamics, consumer </a:t>
            </a:r>
            <a:r>
              <a:rPr lang="en-US" dirty="0" err="1">
                <a:cs typeface="Adobe Hebrew" panose="02040503050201020203" pitchFamily="18" charset="-79"/>
              </a:rPr>
              <a:t>behaviour</a:t>
            </a:r>
            <a:r>
              <a:rPr lang="en-US" dirty="0">
                <a:cs typeface="Adobe Hebrew" panose="02040503050201020203" pitchFamily="18" charset="-79"/>
              </a:rPr>
              <a:t>, and professional trends with unprecedented precision.</a:t>
            </a:r>
          </a:p>
        </p:txBody>
      </p:sp>
    </p:spTree>
    <p:extLst>
      <p:ext uri="{BB962C8B-B14F-4D97-AF65-F5344CB8AC3E}">
        <p14:creationId xmlns:p14="http://schemas.microsoft.com/office/powerpoint/2010/main" val="2983493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E7D71-7574-9274-EB8F-D994CF4F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953325"/>
            <a:ext cx="9603275" cy="784860"/>
          </a:xfrm>
        </p:spPr>
        <p:txBody>
          <a:bodyPr/>
          <a:lstStyle/>
          <a:p>
            <a:r>
              <a:rPr lang="en-US" dirty="0">
                <a:latin typeface="Adobe Hebrew" panose="02040503050201020203" pitchFamily="18" charset="-79"/>
                <a:cs typeface="Adobe Hebrew" panose="02040503050201020203" pitchFamily="18" charset="-79"/>
              </a:rPr>
              <a:t>Objective</a:t>
            </a:r>
            <a:endParaRPr lang="en-IN" dirty="0">
              <a:latin typeface="Adobe Hebrew" panose="02040503050201020203" pitchFamily="18" charset="-79"/>
              <a:cs typeface="Adobe Hebrew" panose="02040503050201020203" pitchFamily="18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728DC-9FDC-F4E0-265D-5C32F1B8A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1812324"/>
            <a:ext cx="9603275" cy="3654021"/>
          </a:xfrm>
        </p:spPr>
        <p:txBody>
          <a:bodyPr/>
          <a:lstStyle/>
          <a:p>
            <a:r>
              <a:rPr lang="en-US" dirty="0"/>
              <a:t>This analysis is to evaluate the performance of media campaigns across LinkedIn, Facebook, and Google.</a:t>
            </a:r>
          </a:p>
          <a:p>
            <a:r>
              <a:rPr lang="en-IN" dirty="0"/>
              <a:t>Evaluate media performance across LinkedIn, Facebook, and Google.</a:t>
            </a:r>
          </a:p>
          <a:p>
            <a:r>
              <a:rPr lang="en-IN" dirty="0"/>
              <a:t>Identify areas of improvement and opportunities for growth.</a:t>
            </a:r>
          </a:p>
          <a:p>
            <a:r>
              <a:rPr lang="en-IN" dirty="0"/>
              <a:t>Provide data-driven recommendations to optimize media spend and maximize ROI.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699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E2EE8-A06C-DDC2-B6BD-FB643CD17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953325"/>
            <a:ext cx="6093490" cy="73323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Adobe Hebrew" panose="02040503050201020203" pitchFamily="18" charset="-79"/>
                <a:cs typeface="Adobe Hebrew" panose="02040503050201020203" pitchFamily="18" charset="-79"/>
              </a:rPr>
              <a:t>Age Wise Social Interactions</a:t>
            </a:r>
            <a:br>
              <a:rPr lang="en-US" dirty="0">
                <a:latin typeface="Adobe Hebrew" panose="02040503050201020203" pitchFamily="18" charset="-79"/>
                <a:cs typeface="Adobe Hebrew" panose="02040503050201020203" pitchFamily="18" charset="-79"/>
              </a:rPr>
            </a:br>
            <a:br>
              <a:rPr lang="en-US" dirty="0">
                <a:latin typeface="Adobe Hebrew" panose="02040503050201020203" pitchFamily="18" charset="-79"/>
                <a:cs typeface="Adobe Hebrew" panose="02040503050201020203" pitchFamily="18" charset="-79"/>
              </a:rPr>
            </a:br>
            <a:r>
              <a:rPr lang="en-US" sz="2000" dirty="0">
                <a:latin typeface="+mn-lt"/>
                <a:cs typeface="Adobe Hebrew" panose="02040503050201020203" pitchFamily="18" charset="-79"/>
              </a:rPr>
              <a:t>Based on the chart, here's a brief</a:t>
            </a:r>
            <a:br>
              <a:rPr lang="en-US" sz="2000" dirty="0">
                <a:latin typeface="+mn-lt"/>
                <a:cs typeface="Adobe Hebrew" panose="02040503050201020203" pitchFamily="18" charset="-79"/>
              </a:rPr>
            </a:br>
            <a:r>
              <a:rPr lang="en-US" sz="2000" dirty="0">
                <a:latin typeface="+mn-lt"/>
                <a:cs typeface="Adobe Hebrew" panose="02040503050201020203" pitchFamily="18" charset="-79"/>
              </a:rPr>
              <a:t>explanation of age-wise social interactions:</a:t>
            </a:r>
            <a:br>
              <a:rPr lang="en-US" sz="2000" dirty="0">
                <a:latin typeface="+mn-lt"/>
                <a:cs typeface="Adobe Hebrew" panose="02040503050201020203" pitchFamily="18" charset="-79"/>
              </a:rPr>
            </a:br>
            <a:br>
              <a:rPr lang="en-US" sz="2000" dirty="0">
                <a:latin typeface="+mn-lt"/>
                <a:cs typeface="Adobe Hebrew" panose="02040503050201020203" pitchFamily="18" charset="-79"/>
              </a:rPr>
            </a:br>
            <a:r>
              <a:rPr lang="en-US" sz="2000" dirty="0">
                <a:latin typeface="+mn-lt"/>
                <a:cs typeface="Adobe Hebrew" panose="02040503050201020203" pitchFamily="18" charset="-79"/>
              </a:rPr>
              <a:t>18-24 age group: Highest total social interactions (1,773).</a:t>
            </a:r>
            <a:br>
              <a:rPr lang="en-US" sz="2000" dirty="0">
                <a:latin typeface="+mn-lt"/>
                <a:cs typeface="Adobe Hebrew" panose="02040503050201020203" pitchFamily="18" charset="-79"/>
              </a:rPr>
            </a:br>
            <a:br>
              <a:rPr lang="en-US" sz="2000" dirty="0">
                <a:latin typeface="+mn-lt"/>
                <a:cs typeface="Adobe Hebrew" panose="02040503050201020203" pitchFamily="18" charset="-79"/>
              </a:rPr>
            </a:br>
            <a:r>
              <a:rPr lang="en-US" sz="2000" dirty="0">
                <a:latin typeface="+mn-lt"/>
                <a:cs typeface="Adobe Hebrew" panose="02040503050201020203" pitchFamily="18" charset="-79"/>
              </a:rPr>
              <a:t>13-17 age group: Second-highest total social interactions (1,137).</a:t>
            </a:r>
            <a:br>
              <a:rPr lang="en-US" sz="2000" dirty="0">
                <a:latin typeface="+mn-lt"/>
                <a:cs typeface="Adobe Hebrew" panose="02040503050201020203" pitchFamily="18" charset="-79"/>
              </a:rPr>
            </a:br>
            <a:br>
              <a:rPr lang="en-US" sz="2000" dirty="0">
                <a:latin typeface="+mn-lt"/>
                <a:cs typeface="Adobe Hebrew" panose="02040503050201020203" pitchFamily="18" charset="-79"/>
              </a:rPr>
            </a:br>
            <a:r>
              <a:rPr lang="en-US" sz="2000" dirty="0">
                <a:latin typeface="+mn-lt"/>
                <a:cs typeface="Adobe Hebrew" panose="02040503050201020203" pitchFamily="18" charset="-79"/>
              </a:rPr>
              <a:t>25-34, 35-44, 45-54 age groups: Significantly lower total social interactions (216, 88, 40 respectively).</a:t>
            </a:r>
            <a:br>
              <a:rPr lang="en-US" sz="2000" dirty="0">
                <a:latin typeface="+mn-lt"/>
                <a:cs typeface="Adobe Hebrew" panose="02040503050201020203" pitchFamily="18" charset="-79"/>
              </a:rPr>
            </a:br>
            <a:br>
              <a:rPr lang="en-US" sz="2000" dirty="0">
                <a:latin typeface="+mn-lt"/>
                <a:cs typeface="Adobe Hebrew" panose="02040503050201020203" pitchFamily="18" charset="-79"/>
              </a:rPr>
            </a:br>
            <a:endParaRPr lang="en-IN" dirty="0">
              <a:latin typeface="+mn-lt"/>
              <a:cs typeface="Adobe Hebrew" panose="02040503050201020203" pitchFamily="18" charset="-79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E71A16-B372-A0E6-92F1-3338546BA0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6400" y="1046480"/>
            <a:ext cx="4866640" cy="4470400"/>
          </a:xfrm>
        </p:spPr>
      </p:pic>
    </p:spTree>
    <p:extLst>
      <p:ext uri="{BB962C8B-B14F-4D97-AF65-F5344CB8AC3E}">
        <p14:creationId xmlns:p14="http://schemas.microsoft.com/office/powerpoint/2010/main" val="239803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8FF7D-A3E2-2784-75D5-5E4A1398E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1" y="953325"/>
            <a:ext cx="5240049" cy="641796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Adobe Hebrew" panose="02040503050201020203" pitchFamily="18" charset="-79"/>
                <a:cs typeface="Adobe Hebrew" panose="02040503050201020203" pitchFamily="18" charset="-79"/>
              </a:rPr>
              <a:t>Average Purchase Per Month</a:t>
            </a:r>
            <a:br>
              <a:rPr lang="en-US" dirty="0">
                <a:latin typeface="Adobe Hebrew" panose="02040503050201020203" pitchFamily="18" charset="-79"/>
                <a:cs typeface="Adobe Hebrew" panose="02040503050201020203" pitchFamily="18" charset="-79"/>
              </a:rPr>
            </a:br>
            <a:br>
              <a:rPr lang="en-US" dirty="0">
                <a:latin typeface="Adobe Hebrew" panose="02040503050201020203" pitchFamily="18" charset="-79"/>
                <a:cs typeface="Adobe Hebrew" panose="02040503050201020203" pitchFamily="18" charset="-79"/>
              </a:rPr>
            </a:br>
            <a:r>
              <a:rPr lang="en-US" sz="2200" dirty="0">
                <a:latin typeface="+mn-lt"/>
                <a:cs typeface="Adobe Hebrew" panose="02040503050201020203" pitchFamily="18" charset="-79"/>
              </a:rPr>
              <a:t>Average purchase value for six months: January (94), March (393), February (577), October (3,339), November (3,637), and December (4,192).</a:t>
            </a:r>
            <a:br>
              <a:rPr lang="en-US" sz="2200" dirty="0">
                <a:latin typeface="+mn-lt"/>
                <a:cs typeface="Adobe Hebrew" panose="02040503050201020203" pitchFamily="18" charset="-79"/>
              </a:rPr>
            </a:br>
            <a:br>
              <a:rPr lang="en-US" sz="2200" dirty="0">
                <a:latin typeface="+mn-lt"/>
                <a:cs typeface="Adobe Hebrew" panose="02040503050201020203" pitchFamily="18" charset="-79"/>
              </a:rPr>
            </a:br>
            <a:r>
              <a:rPr lang="en-US" sz="2200" dirty="0">
                <a:latin typeface="+mn-lt"/>
                <a:cs typeface="Adobe Hebrew" panose="02040503050201020203" pitchFamily="18" charset="-79"/>
              </a:rPr>
              <a:t>The graph indicates a significant increase in average purchase value towards the end of the year (October to December).</a:t>
            </a:r>
            <a:endParaRPr lang="en-IN" dirty="0">
              <a:latin typeface="+mn-lt"/>
              <a:cs typeface="Adobe Hebrew" panose="02040503050201020203" pitchFamily="18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270C7A-F47E-7275-19F7-3813547206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06" b="1921"/>
          <a:stretch>
            <a:fillRect/>
          </a:stretch>
        </p:blipFill>
        <p:spPr>
          <a:xfrm>
            <a:off x="6471920" y="1168401"/>
            <a:ext cx="4953671" cy="46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251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447C6E3-D921-A754-52CF-5B7C5C309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953325"/>
            <a:ext cx="9603275" cy="47923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dobe Hebrew" panose="02040503050201020203" pitchFamily="18" charset="-79"/>
                <a:cs typeface="Adobe Hebrew" panose="02040503050201020203" pitchFamily="18" charset="-79"/>
              </a:rPr>
              <a:t>KPIS</a:t>
            </a:r>
            <a:br>
              <a:rPr lang="en-US" dirty="0">
                <a:latin typeface="Adobe Hebrew" panose="02040503050201020203" pitchFamily="18" charset="-79"/>
                <a:cs typeface="Adobe Hebrew" panose="02040503050201020203" pitchFamily="18" charset="-79"/>
              </a:rPr>
            </a:br>
            <a:br>
              <a:rPr lang="en-US" dirty="0">
                <a:latin typeface="Adobe Hebrew" panose="02040503050201020203" pitchFamily="18" charset="-79"/>
                <a:cs typeface="Adobe Hebrew" panose="02040503050201020203" pitchFamily="18" charset="-79"/>
              </a:rPr>
            </a:br>
            <a:endParaRPr lang="en-IN" dirty="0">
              <a:latin typeface="Adobe Hebrew" panose="02040503050201020203" pitchFamily="18" charset="-79"/>
              <a:cs typeface="Adobe Hebrew" panose="02040503050201020203" pitchFamily="18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ECD7DB-05A8-D451-4C0C-F10AB858D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60" y="1432560"/>
            <a:ext cx="11308080" cy="440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60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4917D2-924A-3882-D526-C9AD2FF11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438331"/>
          </a:xfrm>
        </p:spPr>
        <p:txBody>
          <a:bodyPr>
            <a:noAutofit/>
          </a:bodyPr>
          <a:lstStyle/>
          <a:p>
            <a:r>
              <a:rPr lang="en-US" dirty="0">
                <a:latin typeface="Adobe Hebrew" panose="02040503050201020203" pitchFamily="18" charset="-79"/>
                <a:cs typeface="Adobe Hebrew" panose="02040503050201020203" pitchFamily="18" charset="-79"/>
              </a:rPr>
              <a:t>KPIS</a:t>
            </a:r>
            <a:endParaRPr lang="en-IN" dirty="0">
              <a:latin typeface="Adobe Hebrew" panose="02040503050201020203" pitchFamily="18" charset="-79"/>
              <a:cs typeface="Adobe Hebrew" panose="02040503050201020203" pitchFamily="18" charset="-79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974D97-B24C-C1CD-B5E8-FF544B2F4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1544320"/>
            <a:ext cx="9603275" cy="4360356"/>
          </a:xfrm>
        </p:spPr>
        <p:txBody>
          <a:bodyPr>
            <a:normAutofit/>
          </a:bodyPr>
          <a:lstStyle/>
          <a:p>
            <a:r>
              <a:rPr lang="en-US" dirty="0"/>
              <a:t>The number of people who have liked your page is 410.</a:t>
            </a:r>
          </a:p>
          <a:p>
            <a:r>
              <a:rPr lang="en-US" dirty="0"/>
              <a:t>The total amount spent on the ad campaign 22,142.</a:t>
            </a:r>
          </a:p>
          <a:p>
            <a:r>
              <a:rPr lang="en-US" dirty="0"/>
              <a:t>CTR% (Click-Through Rate): The percentage of users who clicked on the ad is 32.15%.</a:t>
            </a:r>
          </a:p>
          <a:p>
            <a:r>
              <a:rPr lang="en-US" dirty="0"/>
              <a:t>Total Post Reaction: The number of reactions (e.g., likes, loves) on the ad is 2771.</a:t>
            </a:r>
          </a:p>
          <a:p>
            <a:r>
              <a:rPr lang="en-US" dirty="0"/>
              <a:t>ROAS (Return on Ad Spend): The revenue generated per dollar spent on ads 0.4354.</a:t>
            </a:r>
          </a:p>
          <a:p>
            <a:r>
              <a:rPr lang="en-US" dirty="0"/>
              <a:t>Total Link Clicks: The number of clicks on the ad's link is 7196.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5159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C72A0-146D-4054-62FB-1ED09F090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04BFA2-0CEE-A881-30D0-757C710615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60013" y="1781968"/>
            <a:ext cx="5592534" cy="3294063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25E163D-2193-8E6F-A226-BAA58CABE5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1756568"/>
            <a:ext cx="5679440" cy="3287713"/>
          </a:xfrm>
        </p:spPr>
      </p:pic>
    </p:spTree>
    <p:extLst>
      <p:ext uri="{BB962C8B-B14F-4D97-AF65-F5344CB8AC3E}">
        <p14:creationId xmlns:p14="http://schemas.microsoft.com/office/powerpoint/2010/main" val="867040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F711F44-E429-0631-07E0-78DCB2296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812800"/>
            <a:ext cx="8879840" cy="486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125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179BD6-1369-4A7E-A8CF-99BAE9D10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480" y="3058160"/>
            <a:ext cx="9347201" cy="92456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dobe Hebrew" panose="02040503050201020203" pitchFamily="18" charset="-79"/>
                <a:cs typeface="Adobe Hebrew" panose="02040503050201020203" pitchFamily="18" charset="-79"/>
              </a:rPr>
              <a:t>                                </a:t>
            </a:r>
            <a:r>
              <a:rPr lang="en-US" sz="6700" dirty="0">
                <a:latin typeface="Adobe Hebrew" panose="02040503050201020203" pitchFamily="18" charset="-79"/>
                <a:cs typeface="Adobe Hebrew" panose="02040503050201020203" pitchFamily="18" charset="-79"/>
              </a:rPr>
              <a:t>Thank you</a:t>
            </a:r>
            <a:endParaRPr lang="en-IN" dirty="0">
              <a:latin typeface="Adobe Hebrew" panose="02040503050201020203" pitchFamily="18" charset="-79"/>
              <a:cs typeface="Adobe Hebrew" panose="02040503050201020203" pitchFamily="18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7056642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379</TotalTime>
  <Words>369</Words>
  <Application>Microsoft Office PowerPoint</Application>
  <PresentationFormat>Widescreen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Adobe Hebrew</vt:lpstr>
      <vt:lpstr>Arial</vt:lpstr>
      <vt:lpstr>Century Gothic</vt:lpstr>
      <vt:lpstr>Gallery</vt:lpstr>
      <vt:lpstr>Media Data Analytics</vt:lpstr>
      <vt:lpstr>Introduction</vt:lpstr>
      <vt:lpstr>Objective</vt:lpstr>
      <vt:lpstr>Age Wise Social Interactions  Based on the chart, here's a brief explanation of age-wise social interactions:  18-24 age group: Highest total social interactions (1,773).  13-17 age group: Second-highest total social interactions (1,137).  25-34, 35-44, 45-54 age groups: Significantly lower total social interactions (216, 88, 40 respectively).  </vt:lpstr>
      <vt:lpstr>Average Purchase Per Month  Average purchase value for six months: January (94), March (393), February (577), October (3,339), November (3,637), and December (4,192).  The graph indicates a significant increase in average purchase value towards the end of the year (October to December).</vt:lpstr>
      <vt:lpstr>KPIS  </vt:lpstr>
      <vt:lpstr>KPIS</vt:lpstr>
      <vt:lpstr>SQL Query</vt:lpstr>
      <vt:lpstr>PowerPoint Presentation</vt:lpstr>
      <vt:lpstr>     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sandhya hb</dc:creator>
  <cp:lastModifiedBy>sandhya hb</cp:lastModifiedBy>
  <cp:revision>2</cp:revision>
  <dcterms:created xsi:type="dcterms:W3CDTF">2025-11-12T12:39:56Z</dcterms:created>
  <dcterms:modified xsi:type="dcterms:W3CDTF">2025-11-13T09:54:53Z</dcterms:modified>
</cp:coreProperties>
</file>